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5"/>
  </p:notesMasterIdLst>
  <p:sldIdLst>
    <p:sldId id="256" r:id="rId3"/>
    <p:sldId id="33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3" autoAdjust="0"/>
    <p:restoredTop sz="92827" autoAdjust="0"/>
  </p:normalViewPr>
  <p:slideViewPr>
    <p:cSldViewPr snapToGrid="0">
      <p:cViewPr varScale="1">
        <p:scale>
          <a:sx n="103" d="100"/>
          <a:sy n="103" d="100"/>
        </p:scale>
        <p:origin x="10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6C290-D8B7-4A18-89F0-A9B7E0953A3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DBA04-6ED8-483E-B871-95F7159C2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6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D1944-6356-5786-BF92-DAAF2B640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5DBA4-0AD8-DCAA-364D-E94BF85D3A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431F7-5E18-5419-6579-CDFB7F758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D536B-0956-893B-27D5-1FDB129E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DEED5-17F3-8E66-880F-B817DF97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22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33840-6A7E-F3FA-A87D-6158E4AFA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A0185-36AD-704B-5F00-696DE1AF2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500">
                <a:latin typeface="Garamond" panose="02020404030301010803" pitchFamily="18" charset="0"/>
              </a:defRPr>
            </a:lvl1pPr>
            <a:lvl2pPr>
              <a:defRPr sz="1500">
                <a:latin typeface="Garamond" panose="02020404030301010803" pitchFamily="18" charset="0"/>
              </a:defRPr>
            </a:lvl2pPr>
            <a:lvl3pPr>
              <a:defRPr sz="1500">
                <a:latin typeface="Garamond" panose="02020404030301010803" pitchFamily="18" charset="0"/>
              </a:defRPr>
            </a:lvl3pPr>
            <a:lvl4pPr>
              <a:defRPr sz="1500">
                <a:latin typeface="Garamond" panose="02020404030301010803" pitchFamily="18" charset="0"/>
              </a:defRPr>
            </a:lvl4pPr>
            <a:lvl5pPr>
              <a:defRPr sz="1500"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5C23C-B5E2-EBFD-4554-B76C2DC0F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C86A9-C99F-8108-B88D-2EEE22A8B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3B020-274E-3CE2-4EEF-402E31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C81C2-BD7E-328F-3E7C-A387CD65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6F243-B4EB-6E2A-761C-1B445A5A7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F6604-B6ED-613F-B835-68F5FD6AA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893BA-3873-C301-9FE4-7D9BB255D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5773D-D3E1-50DC-E7E4-9E47737E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67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264B3-F36E-5F6D-B766-6CD496A55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0B647-7D9E-5D39-699F-0E159B07F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600">
                <a:latin typeface="Garamond" panose="02020404030301010803" pitchFamily="18" charset="0"/>
              </a:defRPr>
            </a:lvl1pPr>
            <a:lvl2pPr>
              <a:defRPr sz="1600">
                <a:latin typeface="Garamond" panose="02020404030301010803" pitchFamily="18" charset="0"/>
              </a:defRPr>
            </a:lvl2pPr>
            <a:lvl3pPr>
              <a:defRPr sz="1600">
                <a:latin typeface="Garamond" panose="02020404030301010803" pitchFamily="18" charset="0"/>
              </a:defRPr>
            </a:lvl3pPr>
            <a:lvl4pPr>
              <a:defRPr sz="1600">
                <a:latin typeface="Garamond" panose="02020404030301010803" pitchFamily="18" charset="0"/>
              </a:defRPr>
            </a:lvl4pPr>
            <a:lvl5pPr>
              <a:defRPr sz="1600"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270F24-CF7B-2B6E-566F-80FEA4ECF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1600">
                <a:latin typeface="Garamond" panose="02020404030301010803" pitchFamily="18" charset="0"/>
              </a:defRPr>
            </a:lvl1pPr>
            <a:lvl2pPr>
              <a:defRPr sz="1600">
                <a:latin typeface="Garamond" panose="02020404030301010803" pitchFamily="18" charset="0"/>
              </a:defRPr>
            </a:lvl2pPr>
            <a:lvl3pPr>
              <a:defRPr sz="1600">
                <a:latin typeface="Garamond" panose="02020404030301010803" pitchFamily="18" charset="0"/>
              </a:defRPr>
            </a:lvl3pPr>
            <a:lvl4pPr>
              <a:defRPr sz="1600">
                <a:latin typeface="Garamond" panose="02020404030301010803" pitchFamily="18" charset="0"/>
              </a:defRPr>
            </a:lvl4pPr>
            <a:lvl5pPr>
              <a:defRPr sz="1600">
                <a:latin typeface="Garamond" panose="020204040303010108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99D18-4BAD-23A9-9169-6D742F86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BC2AF-9C46-C14B-F6DB-FC0F0CFC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C0431-7FD9-72FC-B6E5-72467584F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341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BDD61-6C9B-05A8-3C73-E37B879BC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F26B5-AB38-2F49-27C4-1D3DA2E3C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C5E6A-D535-9509-3249-3707DF3BE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590CE5-3CA8-206B-1B26-70E2C3B94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000D10-6EA5-2255-AAE6-58B485D85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49C995-68BA-E2C1-778B-C5F79C645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8E3188-703A-2658-74D3-00BF64E41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20A8B6-BAF3-08E1-6100-DB5002B04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79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19FDA-2F07-2F27-1ECE-FE9F9AA6F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CAB20-518C-3ED3-A140-C732D7B0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B8383-0887-3ED8-8F52-57F90D7E1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71776-EDA6-C85E-D864-F68DED29B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1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398CD-227B-DBC3-336B-B684197E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E537AB-DADC-672D-A00F-580531967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BE437-1BE1-9005-7772-DA2056127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80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A577-21E2-524F-D6F9-9E4F96B20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34796-2F96-44DC-3914-DDD281F24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D1D55-5A92-490D-E4E3-1F869D66C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D3AE7-67BF-1FF0-942C-CB697A12B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9BBDB-5838-C2F5-1C1F-AC39C7BB9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BA294-941A-2C28-0613-C41493EE9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01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CB82-D546-49A5-952D-925B14D6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2F43F-09C4-7FE0-18C5-8DB2FE7E43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D89EB-6672-471B-9DDA-413B8F689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A44A9-0F12-18C1-504C-4F282923A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40F11-0EB0-55C1-8C5B-477DF8CFB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74CA0-A0DE-D272-0865-B96780F9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E8E6A-4627-2BCD-2CDF-827DF5FF8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58281-28FB-32DD-1E59-501A9C2D9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C50E7-4524-83DB-1E64-E3A5412C3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CD213-4E4C-D8DC-564B-9F83CB2E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42E69-44BA-2DB7-4201-12BC3891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9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65685D-3BEB-C9DE-23E1-0D24B7F3B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8F89C-EF45-93C8-7BA0-3AA83B94F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96D11-749E-BAEF-E3E8-8149CED98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F0617-9519-99CC-EAA4-CC9E20D4C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0ABDC-2391-5931-F2E8-FB0758302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98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D1944-6356-5786-BF92-DAAF2B640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5DBA4-0AD8-DCAA-364D-E94BF85D3A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431F7-5E18-5419-6579-CDFB7F758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D536B-0956-893B-27D5-1FDB129E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DEED5-17F3-8E66-880F-B817DF97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19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33840-6A7E-F3FA-A87D-6158E4AFA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A0185-36AD-704B-5F00-696DE1AF2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5C23C-B5E2-EBFD-4554-B76C2DC0F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C86A9-C99F-8108-B88D-2EEE22A8B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3B020-274E-3CE2-4EEF-402E318D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9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C81C2-BD7E-328F-3E7C-A387CD65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6F243-B4EB-6E2A-761C-1B445A5A7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F6604-B6ED-613F-B835-68F5FD6AA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893BA-3873-C301-9FE4-7D9BB255D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5773D-D3E1-50DC-E7E4-9E47737E6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43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264B3-F36E-5F6D-B766-6CD496A55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0B647-7D9E-5D39-699F-0E159B07F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270F24-CF7B-2B6E-566F-80FEA4ECF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99D18-4BAD-23A9-9169-6D742F86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BC2AF-9C46-C14B-F6DB-FC0F0CFC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C0431-7FD9-72FC-B6E5-72467584F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17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BDD61-6C9B-05A8-3C73-E37B879BC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F26B5-AB38-2F49-27C4-1D3DA2E3C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C5E6A-D535-9509-3249-3707DF3BE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590CE5-3CA8-206B-1B26-70E2C3B94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000D10-6EA5-2255-AAE6-58B485D85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49C995-68BA-E2C1-778B-C5F79C645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8E3188-703A-2658-74D3-00BF64E41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20A8B6-BAF3-08E1-6100-DB5002B04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3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19FDA-2F07-2F27-1ECE-FE9F9AA6F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CAB20-518C-3ED3-A140-C732D7B0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B8383-0887-3ED8-8F52-57F90D7E1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71776-EDA6-C85E-D864-F68DED29B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670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398CD-227B-DBC3-336B-B684197E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E537AB-DADC-672D-A00F-580531967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BE437-1BE1-9005-7772-DA2056127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54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A577-21E2-524F-D6F9-9E4F96B20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34796-2F96-44DC-3914-DDD281F24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D1D55-5A92-490D-E4E3-1F869D66C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D3AE7-67BF-1FF0-942C-CB697A12B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9BBDB-5838-C2F5-1C1F-AC39C7BB9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BA294-941A-2C28-0613-C41493EE9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057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CB82-D546-49A5-952D-925B14D62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2F43F-09C4-7FE0-18C5-8DB2FE7E43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D89EB-6672-471B-9DDA-413B8F689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A44A9-0F12-18C1-504C-4F282923A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40F11-0EB0-55C1-8C5B-477DF8CFB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74CA0-A0DE-D272-0865-B96780F9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2129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E8E6A-4627-2BCD-2CDF-827DF5FF8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58281-28FB-32DD-1E59-501A9C2D9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C50E7-4524-83DB-1E64-E3A5412C3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CD213-4E4C-D8DC-564B-9F83CB2E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42E69-44BA-2DB7-4201-12BC3891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312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65685D-3BEB-C9DE-23E1-0D24B7F3B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8F89C-EF45-93C8-7BA0-3AA83B94F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96D11-749E-BAEF-E3E8-8149CED98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F0617-9519-99CC-EAA4-CC9E20D4C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0ABDC-2391-5931-F2E8-FB0758302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18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0FCF4-C68E-F1FE-4978-31B086E6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5D8B9-5868-5E52-A6F5-AFF6981C1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4CAB8-4ED7-BB87-9335-615EF231E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1C544-5EF9-AB4D-A620-C58CA8DAA9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08DDE-CCD3-D7F3-A639-9C9FCA59E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21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0FCF4-C68E-F1FE-4978-31B086E6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5D8B9-5868-5E52-A6F5-AFF6981C1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4CAB8-4ED7-BB87-9335-615EF231E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121FD-2E23-4C34-805B-BF21E42A8E79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1C544-5EF9-AB4D-A620-C58CA8DAA9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08DDE-CCD3-D7F3-A639-9C9FCA59E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76E52-99A2-41E0-BDCE-EA989BFCF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9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2D83ED-661A-29D4-1993-81939FB4C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541263"/>
            <a:ext cx="12192000" cy="1395022"/>
          </a:xfrm>
        </p:spPr>
        <p:txBody>
          <a:bodyPr anchor="t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Garamond" panose="02020404030301010803" pitchFamily="18" charset="0"/>
              </a:rPr>
              <a:t>Weekly Update</a:t>
            </a:r>
          </a:p>
        </p:txBody>
      </p:sp>
      <p:pic>
        <p:nvPicPr>
          <p:cNvPr id="4" name="Picture 3" descr="A picture containing text, alcohol, beverage">
            <a:extLst>
              <a:ext uri="{FF2B5EF4-FFF2-40B4-BE49-F238E27FC236}">
                <a16:creationId xmlns:a16="http://schemas.microsoft.com/office/drawing/2014/main" id="{B0EAAEA6-CE9F-0EDC-7D4C-1026F3E93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275" y="666750"/>
            <a:ext cx="2457450" cy="237172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64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07E91-648B-B9B9-FEE7-8AF894243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Garamond" panose="02020404030301010803" pitchFamily="18" charset="0"/>
              </a:rPr>
              <a:t>2024 Performance</a:t>
            </a:r>
            <a:endParaRPr lang="en-US" sz="4000" kern="1200" dirty="0">
              <a:solidFill>
                <a:srgbClr val="FFFFFF"/>
              </a:solidFill>
              <a:latin typeface="Garamond" panose="02020404030301010803" pitchFamily="18" charset="0"/>
            </a:endParaRPr>
          </a:p>
        </p:txBody>
      </p:sp>
      <p:pic>
        <p:nvPicPr>
          <p:cNvPr id="3" name="Picture 2" descr="A picture containing text, alcohol, beverage">
            <a:extLst>
              <a:ext uri="{FF2B5EF4-FFF2-40B4-BE49-F238E27FC236}">
                <a16:creationId xmlns:a16="http://schemas.microsoft.com/office/drawing/2014/main" id="{BCEEDC77-BBBB-2C70-673A-3AAD66571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19" y="5740200"/>
            <a:ext cx="1040861" cy="102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34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12434</TotalTime>
  <Words>3727</Words>
  <Application>Microsoft Office PowerPoint</Application>
  <PresentationFormat>Widescreen</PresentationFormat>
  <Paragraphs>380</Paragraphs>
  <Slides>72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72</vt:i4>
      </vt:variant>
    </vt:vector>
  </HeadingPairs>
  <TitlesOfParts>
    <vt:vector size="79" baseType="lpstr">
      <vt:lpstr>Arial</vt:lpstr>
      <vt:lpstr>Calibri</vt:lpstr>
      <vt:lpstr>Calibri Light</vt:lpstr>
      <vt:lpstr>Garamond</vt:lpstr>
      <vt:lpstr>Segoe UI</vt:lpstr>
      <vt:lpstr>Office Theme</vt:lpstr>
      <vt:lpstr>1_Office Theme</vt:lpstr>
      <vt:lpstr>PowerPoint Presentation</vt:lpstr>
      <vt:lpstr>2024 Performance</vt:lpstr>
      <vt:lpstr>2025 Performance</vt:lpstr>
      <vt:lpstr>YTD 2026 Performance</vt:lpstr>
      <vt:lpstr>Q2 2026 Performance</vt:lpstr>
      <vt:lpstr>2026 Drawdown and Rebound</vt:lpstr>
      <vt:lpstr>2026 Drawdown and Rebound</vt:lpstr>
      <vt:lpstr>Early Performance of Major IPOs</vt:lpstr>
      <vt:lpstr>Early Performance of Major IPOs</vt:lpstr>
      <vt:lpstr>2025 Performance by Sector</vt:lpstr>
      <vt:lpstr>YTD 2026 Performance by Sector</vt:lpstr>
      <vt:lpstr>YTD 2026 Tech Sub-Sector Performance</vt:lpstr>
      <vt:lpstr>The “Lag” 7</vt:lpstr>
      <vt:lpstr>The “Lag” 7</vt:lpstr>
      <vt:lpstr>Artificial Intelligence Capex</vt:lpstr>
      <vt:lpstr>Earnings Growth</vt:lpstr>
      <vt:lpstr>Earnings Growth</vt:lpstr>
      <vt:lpstr>PowerPoint Presentation</vt:lpstr>
      <vt:lpstr>The US has Become an Energy Exporter</vt:lpstr>
      <vt:lpstr>“Real” Energy Costs are in Secular Decline</vt:lpstr>
      <vt:lpstr>Stock Performance After Major Geopolitical Events</vt:lpstr>
      <vt:lpstr>Midterm Elections</vt:lpstr>
      <vt:lpstr>Midterm Elections</vt:lpstr>
      <vt:lpstr>Large Intra-Year Declines are Common</vt:lpstr>
      <vt:lpstr>Large Intra-Year Declines are Common</vt:lpstr>
      <vt:lpstr>Large Intra-Year Declines are Common</vt:lpstr>
      <vt:lpstr>Rebalance Mechanics</vt:lpstr>
      <vt:lpstr>Rebalances Help Investors “Buy Low and Sell High”</vt:lpstr>
      <vt:lpstr>Economic Growth Solid</vt:lpstr>
      <vt:lpstr>Inflation</vt:lpstr>
      <vt:lpstr>The Labor Market</vt:lpstr>
      <vt:lpstr>The Fed and Interest Rates</vt:lpstr>
      <vt:lpstr>The Fed and Interest Rates</vt:lpstr>
      <vt:lpstr>Balanced Portfolio Performance</vt:lpstr>
      <vt:lpstr>Highs and Lows of the Market in 2025</vt:lpstr>
      <vt:lpstr>2025 Performance by Month</vt:lpstr>
      <vt:lpstr>2025 Asset Class Performance</vt:lpstr>
      <vt:lpstr>2025 Mag 7 Stock Performance</vt:lpstr>
      <vt:lpstr>Breakdown of the S&amp;P 500</vt:lpstr>
      <vt:lpstr>International Stocks</vt:lpstr>
      <vt:lpstr>Benefit of Diversification</vt:lpstr>
      <vt:lpstr>AI Bubble?</vt:lpstr>
      <vt:lpstr>AI Bubble?</vt:lpstr>
      <vt:lpstr>Asset Class Returns by Decade</vt:lpstr>
      <vt:lpstr>The Risk/Reward for Bonds</vt:lpstr>
      <vt:lpstr>Bond Math—Why “Low-Risk” Bonds Can Decline</vt:lpstr>
      <vt:lpstr>CryptoCurrency - Bitcoin</vt:lpstr>
      <vt:lpstr>Gold </vt:lpstr>
      <vt:lpstr>Appendix: Equity Style</vt:lpstr>
      <vt:lpstr>Annual Sector Returns</vt:lpstr>
      <vt:lpstr>Appendix: Periodic Table of Investments</vt:lpstr>
      <vt:lpstr>Appendix: Current Yield Environment</vt:lpstr>
      <vt:lpstr>Appendix: One Year Market Returns Don’t Change Much in the Long-Run</vt:lpstr>
      <vt:lpstr>Appendix: Annual S&amp;P 500 Returns</vt:lpstr>
      <vt:lpstr>Appendix: Annual Bond Performance</vt:lpstr>
      <vt:lpstr>Appendix: Equity “Style” Risk/Return</vt:lpstr>
      <vt:lpstr>Market at All-Time High</vt:lpstr>
      <vt:lpstr>Appendix: Congressional Impact on Markets</vt:lpstr>
      <vt:lpstr>Appendix: Market Returns By President</vt:lpstr>
      <vt:lpstr>An “Average” Year is Uncommon</vt:lpstr>
      <vt:lpstr>Appendix: Concentration</vt:lpstr>
      <vt:lpstr>International Stocks</vt:lpstr>
      <vt:lpstr>2022 Performance</vt:lpstr>
      <vt:lpstr>2023 Performance</vt:lpstr>
      <vt:lpstr>Historic Volatility and Rally</vt:lpstr>
      <vt:lpstr>S&amp;P 500 Average Monthly Return</vt:lpstr>
      <vt:lpstr>2022 Sector Performance</vt:lpstr>
      <vt:lpstr>2023 Sector Performance</vt:lpstr>
      <vt:lpstr>2024 Sector Performance</vt:lpstr>
      <vt:lpstr>Historic Volatility</vt:lpstr>
      <vt:lpstr>Investing at All-Time Highs</vt:lpstr>
      <vt:lpstr>The Risk/Reward for Bonds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Nicholas Hogrefe, CFA, CFP®</dc:creator>
  <cp:lastModifiedBy>David Mitchell, CFA®</cp:lastModifiedBy>
  <cp:revision>608</cp:revision>
  <dcterms:created xsi:type="dcterms:W3CDTF">2024-01-16T21:20:47Z</dcterms:created>
  <dcterms:modified xsi:type="dcterms:W3CDTF">2026-07-06T13:27:57Z</dcterms:modified>
</cp:coreProperties>
</file>